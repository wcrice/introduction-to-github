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304" r:id="rId3"/>
    <p:sldId id="291" r:id="rId4"/>
    <p:sldId id="3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46AC1-B694-490A-A34E-7A4692803AAD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0A801-BF6A-40E5-BE9B-DF7485274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87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9879-EF44-86E4-9A06-1EFDADFA1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754F89-B4E9-CBFB-2AEE-B7746A685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2ADB8-250A-019C-1D5B-F3AA654E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BC37-F51E-7713-8ABD-6590492A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920C-AFBA-4F32-6C20-022EA9EE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8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E2F5-64D9-7C41-3576-02CDF84DA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5532F-374F-0186-9320-F20D710E1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EE1A-2A47-BCAF-F635-B57C7ED8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8DFE2-DD49-5ED2-7FB6-2DC96CB5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E7323-C3C6-B288-DA23-B75C0458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0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BF99-AD56-1A8D-AD3A-7488A56D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811C1-D472-84D2-AC66-61FEAFF93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A955D-9AD7-50C4-95F8-31A9A857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C9033-A578-4C9B-7760-C3599A0E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F07D-E3B0-5D0D-8E2C-E1E95A5F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9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C841-FC8C-7742-34EE-7FB29E0C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8838-2DBE-4D80-FB12-2389976D5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0AFAF-375A-40B2-22CB-D4BF1BE7E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9300E-DD48-77D3-255C-FA7C3312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636A7-CB70-28A1-BA8D-C09C14C6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BC4A8-D7EC-C7C3-8EF8-27DABFA7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6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08CDA-58E1-BA49-14DD-B26230952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13024-41A1-7494-ADEC-FF3A9A13E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456E8-5C37-CE75-57AB-B21A9CB81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C9E11-0134-7412-839F-2D1A4B233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E963B-6408-BCA3-263C-BD5B06CA8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9A02D-29D2-1680-8D5F-A4244B0C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DB579D-6AF1-3522-44C2-E56E4A26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0C0BA-1765-2EA7-7290-9BD0E399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8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34B4-28D7-36A0-8C89-B66798B1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12868-8794-CA94-767F-D4B326B8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F2B5C-A858-0A81-28D1-D97A7E29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5A243-91F4-31F5-D447-63956C04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4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3BB18-DDE4-EA90-7DA1-5289A8BF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101A8C-B859-8570-0A36-14E26B649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6C304-72C6-7D48-F3F2-F9722826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9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57537-B35A-99DD-905A-0CCCF836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E993-1D69-6B54-37C9-C99803ED3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69378-A8C1-BAE3-BAEF-C681A7170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270FA-79AE-5DBD-1EC0-C9EA3A79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079FA-0CEA-C698-9799-120407633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0A32D-F2D0-918E-0719-A6DA442A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E801-70E2-062D-5A79-EB9270D9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8E436-A82D-A572-C92E-310E1BF7B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3EA6F-81E8-99CA-FD7F-7E8F71ACF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D75FD-1715-2D7D-47B7-6A6A2F08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F6A78-5C7C-5933-C498-96876A82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1DFD-7F76-2FD5-49C9-ED587959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D2B8-FC9D-76B0-8CC3-E1C007C35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DEDAD-F1A0-4EC6-111A-BB1586200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8BC65-7FC7-ADEA-3DD0-C99934618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F2A1-64E5-D7BF-BF95-3AF4F5CED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CA1E0-3222-39FD-AFF0-A59F4DE1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3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77577E-67F7-5279-6119-D9E6CF75C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4FA3D-7639-77A1-9BC0-33C442010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5D76-46F0-396D-F1F2-8BF0BA1C0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79ED1-2ABC-E149-3492-8E26A2A3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7012-1500-68EA-4248-FC51A02E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3E47-0D7B-CCA0-4544-EBDCDE49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C2462-6C5D-41BD-9E16-D29371DD11A9}" type="datetimeFigureOut">
              <a:rPr lang="en-US" smtClean="0"/>
              <a:t>1/22/25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5BF6534-480B-8FA0-686F-86AA612A8E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22380"/>
            <a:ext cx="12192000" cy="152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92AD5DEB-7318-0EA9-59BD-4EAB5A712A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152400"/>
          </a:xfrm>
          <a:prstGeom prst="rect">
            <a:avLst/>
          </a:prstGeom>
          <a:solidFill>
            <a:srgbClr val="1B3360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AA71471-BBC5-94BA-2983-BD08F6BFCC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46180"/>
            <a:ext cx="12192000" cy="152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4F4BB46-C70B-8941-D52B-CAB4F91257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6568" y="2454115"/>
            <a:ext cx="10515600" cy="848014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sz="5400" b="1">
                <a:solidFill>
                  <a:schemeClr val="tx2"/>
                </a:solidFill>
                <a:latin typeface="+mn-lt"/>
              </a:defRPr>
            </a:lvl1pPr>
            <a:lvl2pPr marL="596900" indent="0">
              <a:buNone/>
              <a:defRPr>
                <a:latin typeface="+mn-lt"/>
              </a:defRPr>
            </a:lvl2pPr>
            <a:lvl3pPr marL="1054100" indent="0">
              <a:buNone/>
              <a:defRPr>
                <a:latin typeface="+mn-lt"/>
              </a:defRPr>
            </a:lvl3pPr>
            <a:lvl4pPr marL="1511300" indent="0">
              <a:buNone/>
              <a:defRPr>
                <a:latin typeface="+mn-lt"/>
              </a:defRPr>
            </a:lvl4pPr>
            <a:lvl5pPr marL="19685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8716F6E-25B1-B61D-52DF-F7C4BC5747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568" y="2016807"/>
            <a:ext cx="10515600" cy="367741"/>
          </a:xfrm>
          <a:prstGeom prst="rect">
            <a:avLst/>
          </a:prstGeom>
        </p:spPr>
        <p:txBody>
          <a:bodyPr/>
          <a:lstStyle>
            <a:lvl1pPr marL="114300" indent="0">
              <a:buNone/>
              <a:defRPr sz="2800" b="0">
                <a:solidFill>
                  <a:schemeClr val="accent3"/>
                </a:solidFill>
                <a:latin typeface="+mn-lt"/>
              </a:defRPr>
            </a:lvl1pPr>
            <a:lvl2pPr marL="596900" indent="0">
              <a:buNone/>
              <a:defRPr>
                <a:latin typeface="+mn-lt"/>
              </a:defRPr>
            </a:lvl2pPr>
            <a:lvl3pPr marL="1054100" indent="0">
              <a:buNone/>
              <a:defRPr>
                <a:latin typeface="+mn-lt"/>
              </a:defRPr>
            </a:lvl3pPr>
            <a:lvl4pPr marL="1511300" indent="0">
              <a:buNone/>
              <a:defRPr>
                <a:latin typeface="+mn-lt"/>
              </a:defRPr>
            </a:lvl4pPr>
            <a:lvl5pPr marL="19685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801A5EF-FDA2-5640-81A6-65352106F2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747" y="5870960"/>
            <a:ext cx="853459" cy="7646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63AA50-5233-A50A-B317-4D716A8D881C}"/>
              </a:ext>
            </a:extLst>
          </p:cNvPr>
          <p:cNvCxnSpPr>
            <a:cxnSpLocks/>
          </p:cNvCxnSpPr>
          <p:nvPr userDrawn="1"/>
        </p:nvCxnSpPr>
        <p:spPr>
          <a:xfrm>
            <a:off x="847725" y="3429000"/>
            <a:ext cx="11344275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60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3B5E8E-5DF7-F2ED-1068-9693AF1E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AC6BA-7914-9049-9E9F-C3E323313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924E6-3A22-BE51-9C22-47E7548A1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CCE52-2C8A-477B-B41F-8BBA8DEC5CD6}" type="datetimeFigureOut">
              <a:rPr lang="en-US" smtClean="0"/>
              <a:t>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6959-4F3C-A304-C810-669307562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C3CFD-419E-83FF-91C7-9FA75846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B566C-014F-4E1A-B040-5CB98349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F6BF27A2-8C6B-651C-BBC9-7B8EEDAE3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2380"/>
            <a:ext cx="12192000" cy="152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CEFA608-B0CF-439F-D353-A87C6B5B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2400"/>
          </a:xfrm>
          <a:prstGeom prst="rect">
            <a:avLst/>
          </a:prstGeom>
          <a:solidFill>
            <a:srgbClr val="1B3360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6AD54C6-3258-9264-85DE-73FB242AD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6180"/>
            <a:ext cx="12192000" cy="152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0200D90-5232-085D-5657-09646E202EA5}"/>
              </a:ext>
            </a:extLst>
          </p:cNvPr>
          <p:cNvSpPr txBox="1">
            <a:spLocks/>
          </p:cNvSpPr>
          <p:nvPr/>
        </p:nvSpPr>
        <p:spPr>
          <a:xfrm>
            <a:off x="596602" y="2663305"/>
            <a:ext cx="10515600" cy="643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14300" indent="0" algn="ctr" defTabSz="914400" rtl="0" eaLnBrk="1" latinLnBrk="0" hangingPunct="1">
              <a:buNone/>
              <a:defRPr sz="54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69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3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685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GitHub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3A2383F-04CD-6552-5E6D-B86D344F1934}"/>
              </a:ext>
            </a:extLst>
          </p:cNvPr>
          <p:cNvSpPr txBox="1">
            <a:spLocks/>
          </p:cNvSpPr>
          <p:nvPr/>
        </p:nvSpPr>
        <p:spPr>
          <a:xfrm>
            <a:off x="662389" y="2067833"/>
            <a:ext cx="10515600" cy="643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14300" indent="0" algn="r" defTabSz="914400" rtl="0" eaLnBrk="1" latinLnBrk="0" hangingPunct="1">
              <a:buNone/>
              <a:defRPr sz="2800" b="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5969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41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3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685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Bill, Camille, Jose</a:t>
            </a:r>
          </a:p>
        </p:txBody>
      </p:sp>
      <p:pic>
        <p:nvPicPr>
          <p:cNvPr id="3" name="Picture 4" descr="What Is GitHub? Definition, Uses, &amp; Getting Started">
            <a:extLst>
              <a:ext uri="{FF2B5EF4-FFF2-40B4-BE49-F238E27FC236}">
                <a16:creationId xmlns:a16="http://schemas.microsoft.com/office/drawing/2014/main" id="{680009D7-F04E-8D1B-79D3-5AD8A28E7C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4" r="20056"/>
          <a:stretch/>
        </p:blipFill>
        <p:spPr bwMode="auto">
          <a:xfrm>
            <a:off x="596602" y="4035921"/>
            <a:ext cx="2377440" cy="2516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ersion Control/Git - Wikiversity">
            <a:extLst>
              <a:ext uri="{FF2B5EF4-FFF2-40B4-BE49-F238E27FC236}">
                <a16:creationId xmlns:a16="http://schemas.microsoft.com/office/drawing/2014/main" id="{1D192ED7-81C4-C733-BACF-3E7460C6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042321"/>
            <a:ext cx="2543784" cy="106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AE1303F-3B77-F492-E649-3DF69ADB59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7"/>
          <a:stretch/>
        </p:blipFill>
        <p:spPr bwMode="auto">
          <a:xfrm>
            <a:off x="6942137" y="1048384"/>
            <a:ext cx="5249863" cy="580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DFB20A-BA87-A0DB-F14E-85E8253CB6CA}"/>
              </a:ext>
            </a:extLst>
          </p:cNvPr>
          <p:cNvSpPr txBox="1"/>
          <p:nvPr/>
        </p:nvSpPr>
        <p:spPr>
          <a:xfrm>
            <a:off x="10080037" y="3757652"/>
            <a:ext cx="2008909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Dropbox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5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419C-2EC0-FFC2-935A-FE5F47C9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lesson today: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A86E75-4137-74A4-EB92-7797C4C951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104" y="1825625"/>
            <a:ext cx="75377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8086739A-8936-2809-17B8-913B9B9A6464}"/>
              </a:ext>
            </a:extLst>
          </p:cNvPr>
          <p:cNvSpPr/>
          <p:nvPr/>
        </p:nvSpPr>
        <p:spPr>
          <a:xfrm>
            <a:off x="2490952" y="1723697"/>
            <a:ext cx="4866289" cy="2017986"/>
          </a:xfrm>
          <a:custGeom>
            <a:avLst/>
            <a:gdLst>
              <a:gd name="connsiteX0" fmla="*/ 0 w 4866289"/>
              <a:gd name="connsiteY0" fmla="*/ 903889 h 2017986"/>
              <a:gd name="connsiteX1" fmla="*/ 1198179 w 4866289"/>
              <a:gd name="connsiteY1" fmla="*/ 2017986 h 2017986"/>
              <a:gd name="connsiteX2" fmla="*/ 2921876 w 4866289"/>
              <a:gd name="connsiteY2" fmla="*/ 1912882 h 2017986"/>
              <a:gd name="connsiteX3" fmla="*/ 4456386 w 4866289"/>
              <a:gd name="connsiteY3" fmla="*/ 1818289 h 2017986"/>
              <a:gd name="connsiteX4" fmla="*/ 4866289 w 4866289"/>
              <a:gd name="connsiteY4" fmla="*/ 1408386 h 2017986"/>
              <a:gd name="connsiteX5" fmla="*/ 3447393 w 4866289"/>
              <a:gd name="connsiteY5" fmla="*/ 0 h 2017986"/>
              <a:gd name="connsiteX6" fmla="*/ 63062 w 4866289"/>
              <a:gd name="connsiteY6" fmla="*/ 178675 h 2017986"/>
              <a:gd name="connsiteX7" fmla="*/ 0 w 4866289"/>
              <a:gd name="connsiteY7" fmla="*/ 903889 h 2017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66289" h="2017986">
                <a:moveTo>
                  <a:pt x="0" y="903889"/>
                </a:moveTo>
                <a:lnTo>
                  <a:pt x="1198179" y="2017986"/>
                </a:lnTo>
                <a:lnTo>
                  <a:pt x="2921876" y="1912882"/>
                </a:lnTo>
                <a:lnTo>
                  <a:pt x="4456386" y="1818289"/>
                </a:lnTo>
                <a:lnTo>
                  <a:pt x="4866289" y="1408386"/>
                </a:lnTo>
                <a:lnTo>
                  <a:pt x="3447393" y="0"/>
                </a:lnTo>
                <a:lnTo>
                  <a:pt x="63062" y="178675"/>
                </a:lnTo>
                <a:lnTo>
                  <a:pt x="0" y="903889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6811427-577F-6BB1-58AD-67D66EBAA00C}"/>
              </a:ext>
            </a:extLst>
          </p:cNvPr>
          <p:cNvSpPr/>
          <p:nvPr/>
        </p:nvSpPr>
        <p:spPr>
          <a:xfrm>
            <a:off x="3111062" y="4172607"/>
            <a:ext cx="4466897" cy="2091559"/>
          </a:xfrm>
          <a:custGeom>
            <a:avLst/>
            <a:gdLst>
              <a:gd name="connsiteX0" fmla="*/ 0 w 4466897"/>
              <a:gd name="connsiteY0" fmla="*/ 1061545 h 2091559"/>
              <a:gd name="connsiteX1" fmla="*/ 388883 w 4466897"/>
              <a:gd name="connsiteY1" fmla="*/ 809296 h 2091559"/>
              <a:gd name="connsiteX2" fmla="*/ 1093076 w 4466897"/>
              <a:gd name="connsiteY2" fmla="*/ 42041 h 2091559"/>
              <a:gd name="connsiteX3" fmla="*/ 2606566 w 4466897"/>
              <a:gd name="connsiteY3" fmla="*/ 0 h 2091559"/>
              <a:gd name="connsiteX4" fmla="*/ 3668110 w 4466897"/>
              <a:gd name="connsiteY4" fmla="*/ 956441 h 2091559"/>
              <a:gd name="connsiteX5" fmla="*/ 4466897 w 4466897"/>
              <a:gd name="connsiteY5" fmla="*/ 1828800 h 2091559"/>
              <a:gd name="connsiteX6" fmla="*/ 1849821 w 4466897"/>
              <a:gd name="connsiteY6" fmla="*/ 2091559 h 2091559"/>
              <a:gd name="connsiteX7" fmla="*/ 252248 w 4466897"/>
              <a:gd name="connsiteY7" fmla="*/ 1744717 h 2091559"/>
              <a:gd name="connsiteX8" fmla="*/ 0 w 4466897"/>
              <a:gd name="connsiteY8" fmla="*/ 1061545 h 209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66897" h="2091559">
                <a:moveTo>
                  <a:pt x="0" y="1061545"/>
                </a:moveTo>
                <a:lnTo>
                  <a:pt x="388883" y="809296"/>
                </a:lnTo>
                <a:lnTo>
                  <a:pt x="1093076" y="42041"/>
                </a:lnTo>
                <a:lnTo>
                  <a:pt x="2606566" y="0"/>
                </a:lnTo>
                <a:lnTo>
                  <a:pt x="3668110" y="956441"/>
                </a:lnTo>
                <a:lnTo>
                  <a:pt x="4466897" y="1828800"/>
                </a:lnTo>
                <a:lnTo>
                  <a:pt x="1849821" y="2091559"/>
                </a:lnTo>
                <a:lnTo>
                  <a:pt x="252248" y="1744717"/>
                </a:lnTo>
                <a:lnTo>
                  <a:pt x="0" y="1061545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8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32C-DCF3-43B7-2CBD-967E5CC7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0"/>
            <a:ext cx="10515600" cy="1325563"/>
          </a:xfrm>
        </p:spPr>
        <p:txBody>
          <a:bodyPr/>
          <a:lstStyle/>
          <a:p>
            <a:r>
              <a:rPr lang="en-US" dirty="0"/>
              <a:t>Assumptions 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916A2-3EF6-C5D7-5E66-634E4A810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64" y="1325563"/>
            <a:ext cx="10515600" cy="529691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You have R Studio</a:t>
            </a:r>
          </a:p>
          <a:p>
            <a:pPr>
              <a:lnSpc>
                <a:spcPct val="200000"/>
              </a:lnSpc>
            </a:pPr>
            <a:r>
              <a:rPr lang="en-US" dirty="0"/>
              <a:t>You have R</a:t>
            </a:r>
          </a:p>
          <a:p>
            <a:pPr>
              <a:lnSpc>
                <a:spcPct val="200000"/>
              </a:lnSpc>
            </a:pPr>
            <a:r>
              <a:rPr lang="en-US" dirty="0"/>
              <a:t>You have GitHub Desktop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You have a GitHub account with access to Larry Walker Associates repos</a:t>
            </a:r>
          </a:p>
        </p:txBody>
      </p:sp>
    </p:spTree>
    <p:extLst>
      <p:ext uri="{BB962C8B-B14F-4D97-AF65-F5344CB8AC3E}">
        <p14:creationId xmlns:p14="http://schemas.microsoft.com/office/powerpoint/2010/main" val="221026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5CC5A-18A5-037B-6D80-F48FE0C80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lesson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6FFA-D3B1-014D-E4DA-2E4FD7AF3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Clone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r>
              <a:rPr lang="en-US" dirty="0"/>
              <a:t>Make a branch: Lets call it “feature-{</a:t>
            </a:r>
            <a:r>
              <a:rPr lang="en-US" dirty="0" err="1"/>
              <a:t>YourNameHere</a:t>
            </a:r>
            <a:r>
              <a:rPr lang="en-US" dirty="0"/>
              <a:t>}”</a:t>
            </a:r>
          </a:p>
          <a:p>
            <a:r>
              <a:rPr lang="en-US" dirty="0"/>
              <a:t>Make a new feature: Copy an example and edit it</a:t>
            </a:r>
          </a:p>
          <a:p>
            <a:r>
              <a:rPr lang="en-US" dirty="0"/>
              <a:t>Make a commit/pull to the new branch: This is like saving</a:t>
            </a:r>
          </a:p>
          <a:p>
            <a:r>
              <a:rPr lang="en-US" dirty="0"/>
              <a:t>Make a Pull Request (PR) on GitHub</a:t>
            </a:r>
          </a:p>
          <a:p>
            <a:r>
              <a:rPr lang="en-US" dirty="0"/>
              <a:t>Watch as it all comes together!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4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3747</TotalTime>
  <Words>97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Our lesson today:</vt:lpstr>
      <vt:lpstr>Assumptions today:</vt:lpstr>
      <vt:lpstr>Our lesson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Woicekowska</dc:creator>
  <cp:lastModifiedBy>Bill Rice</cp:lastModifiedBy>
  <cp:revision>15</cp:revision>
  <dcterms:created xsi:type="dcterms:W3CDTF">2024-10-03T01:56:54Z</dcterms:created>
  <dcterms:modified xsi:type="dcterms:W3CDTF">2025-01-23T00:15:59Z</dcterms:modified>
</cp:coreProperties>
</file>